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F6F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5FA3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ORGANIZACIONALES Y GERENCIALES 1  ·  PROYECTO FASE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UrbanJungle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estratégica de transformación digital: de Vivero El Jardín Urbano a una plataforma de e-commerce de plantas de interior, macetas y suscripción mensual de cuidado vegetal.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C97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metropolitana de Guatemala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No. ____  ·  Integrantes: (completar)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PROPUESTA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 del Proyecto y Alcance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plataforma de e-commerce que impulsa la transformación digital de Vivero El Jardín Urbano, negocio familiar físico con 12 años de trayectoria en Guatemala.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proyecto: REGIONAL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venta digital en toda el área metropolitana de Guatemala, con base de operaciones física en la Ciudad de Guatemala.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554480"/>
            <a:ext cx="4572000" cy="4663440"/>
          </a:xfrm>
          <a:prstGeom prst="roundRect">
            <a:avLst>
              <a:gd name="adj" fmla="val 1800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0664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ENTREGA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99248" y="22037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de Guatemala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2953512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99248" y="2825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06640" y="3575304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99248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Nueva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4197096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99248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 Pinula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4818888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99248" y="4690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Miguel Petapa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5440680"/>
            <a:ext cx="146304" cy="146304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99248" y="5312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Fraijanes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OPERA Y A QUÉ SECTOR PERTENECE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 y Sector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física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 El Jardín Urbano — zona 15, Ciudad de Guatemala. Sector de alta densidad poblacional, nivel socioeconómico medio y medio-alto.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057400"/>
            <a:ext cx="640080" cy="64008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172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económico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al detalle (retail) de plantas de interior, macetas e insumos de jardinería, en transición hacia e-commerce especializado.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74736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94776" y="2057400"/>
            <a:ext cx="640080" cy="64008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9477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digital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49056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en toda el área metropolitana mediante flota propia y aliados de mensajería; fase 2 evalúa Antigua Guatemala.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SE BUSCA RESOLVER Y POR QUÉ ES URGENTE?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Breve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20824"/>
            <a:ext cx="640080" cy="64008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81965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78308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100% presencial, horario fijo, sin canal transaccional digital; pedidos manuales por WhatsApp sin trazabilidad.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502152"/>
            <a:ext cx="640080" cy="64008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3009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 urgente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264408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de plantas de interior crece de forma sostenida y migra a canales digitales hoy dominados por vendedores informales sin garantía ni logística confiable.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823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4745736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esa demanda desatendida y generar ingresos recurrentes mediante un modelo de suscripción mensual, ampliando el alcance sin abrir nuevos locales.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 VENTAJAS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Transformación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AF3EE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1F6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e implementar UrbanJungle como el canal híbrido de Vivero El Jardín Urbano: e-commerce de plantas, macetas y suscripción mensual de cuidado vegetal.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594360" cy="59436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Omnicanalidad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física + digital sin invertir en nuevos locales.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0520" y="3063240"/>
            <a:ext cx="594360" cy="59436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605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Ingresos recurrentes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42062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que reduce la estacionalidad.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063240"/>
            <a:ext cx="594360" cy="59436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alcance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2062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toda el área metropolitana desde un solo centro logístico.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38360" y="3063240"/>
            <a:ext cx="594360" cy="59436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3836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del cliente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2062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Personalización, fidelización y decisiones basadas en datos.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F6F50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 transición es vital?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E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“Sin digitalizarse, el negocio queda expuesto a perder cuota de mercado frente a vendedores informales que ya atienden la demanda en redes sociales — pero sin la calidad, trazabilidad ni respaldo de marca que Vivero El Jardín Urbano sí puede ofrecer.”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109728" cy="109728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96849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actual limita las ventas a un único punto físico y a un horario comercial fijo.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681728"/>
            <a:ext cx="109728" cy="109728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453542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de plantas de interior se desplaza cada vez más hacia canales digitales.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248656"/>
            <a:ext cx="109728" cy="109728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51023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suscripción introduce ingresos recurrentes y predecibles.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ES LA ESTRATEGIA FÍSICA ACTUAL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Actual del Negocio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4114800"/>
          </a:xfrm>
          <a:prstGeom prst="roundRect">
            <a:avLst>
              <a:gd name="adj" fmla="val 2000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 El Jardín Urbano opera bajo una dirección local y reactiva, centrada en la venta presencial y dependiente del tráfico físico hacia el local.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canal digital transaccional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43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Facebook informativo; pedidos manuales por WhatsApp.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3200400"/>
            <a:ext cx="502920" cy="50292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Ventaja: conocimiento y confianza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343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años de relación con clientela de barrio.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3200400"/>
            <a:ext cx="502920" cy="50292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limitado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4343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Acotado a la capacidad física del local y su zona de influencia.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ACCIONES CONCRETAS PARA INICIAR EL CAMBIO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 Clave y Responsables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828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y diseño de la propuesta digital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31343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FODA, Porter y VUCA; definición de canales, marketing y logística.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2112264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21122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Proyecto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172968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3101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desarrollo de la plataforma e-commerce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7947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UX/UI, catálogo, carrito, checkout y módulo de suscripciones.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66760" y="35935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3B86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3593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Técnico / E-commerce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54296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4654296"/>
            <a:ext cx="1005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7914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 pagos, logística y marketing de lanzamiento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27608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Pasarelas de pago, última milla y estrategia digital de apertura.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50749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C97B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de Logística y Marketing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FORTALEZAS, OPORTUNIDADES, DEBILIDADES Y AMENAZAS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EAF3EE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11096"/>
            <a:ext cx="457200" cy="45720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11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y conocimiento técnico (12 años)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confianza con clientela existente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la cadena de suministro (vivero propio)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911096"/>
            <a:ext cx="457200" cy="45720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911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la tendencia "urban jungle"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desarrollo de e-commerce especializado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poco explotada en Guatemala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BEEE0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334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Debilidades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9834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 presencia digital transaccional previa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sin experiencia en e-commerce/logística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 único punto físico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5E7EF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8232" y="4334256"/>
            <a:ext cx="457200" cy="45720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334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9834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informal de bajo costo en redes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del producto a daños en transporte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entrada de cadenas con logística propia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COMPETITIVIDAD DEL SECTOR TECNOLÓGICO Y LOCAL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Fuerzas de Porter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0704" y="1965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C97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0704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Rivalidad entre competidores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74720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vendedores informales, baja diferenciación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7208" y="173736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965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19272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proveedores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474720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proveedores de plantas e insumos disponibles.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65776" y="173736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965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8E3B5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7784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clientes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474720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 de cambio; sensibilidad a precio y confianza.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24344" y="173736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36408" y="1965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36408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Nuevos entrantes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3474720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vender informal; difícil replicar marca + logística.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82912" y="173736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94976" y="1965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5FA3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94976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sustitutos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47504" y="3474720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artificiales y decoración de tiendas de hogar.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PROPUESTA SE ADAPTA AL ENTORNO ACTUAL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65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algoritmos de redes sociales.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canales: SEO, email, referidos.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965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Incertidumbre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en línea de productos vivos aún en desarrollo.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piloto (soft launch) antes de escalar.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 última milla para productos frágiles.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 especializado y flota propia controlada.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11480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389120"/>
            <a:ext cx="548640" cy="54864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Ambigüedad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E3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históricos de precio de suscripción local.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A/B de precio durante el piloto.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PRINCIPAL, REDES SOCIALES Y MARKETPLACES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de Venta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148840"/>
            <a:ext cx="731520" cy="7315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 web propio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03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urbanjungle.gt — catálogo, carrito, checkout y gestión de suscripciones.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24728" y="2148840"/>
            <a:ext cx="731520" cy="73152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2472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sociales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703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y TikTok como vitrina, con Instagram Shopping integrado.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74736" y="17373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37776" y="2148840"/>
            <a:ext cx="731520" cy="73152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37776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de nicho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94776" y="3703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complementaria en marketplace de hogar y decoración.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TÁCTICAS PRINCIPALES PARA ATRAER TRÁFICO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Digital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51914" cy="3291840"/>
          </a:xfrm>
          <a:prstGeom prst="roundRect">
            <a:avLst>
              <a:gd name="adj" fmla="val 4011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4557" y="2468880"/>
            <a:ext cx="640080" cy="64008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54557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1777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y SEO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114800"/>
            <a:ext cx="1722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y guías de cuidado para posicionar en buscadores.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1722" y="2194560"/>
            <a:ext cx="2051914" cy="3291840"/>
          </a:xfrm>
          <a:prstGeom prst="roundRect">
            <a:avLst>
              <a:gd name="adj" fmla="val 4011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7638" y="2468880"/>
            <a:ext cx="640080" cy="64008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0763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38882" y="3337560"/>
            <a:ext cx="1777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en redes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66314" y="4114800"/>
            <a:ext cx="1722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segmentadas en Instagram y TikTok Ads.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54803" y="2194560"/>
            <a:ext cx="2051914" cy="3291840"/>
          </a:xfrm>
          <a:prstGeom prst="roundRect">
            <a:avLst>
              <a:gd name="adj" fmla="val 4011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2468880"/>
            <a:ext cx="640080" cy="64008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60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191963" y="3337560"/>
            <a:ext cx="1777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19395" y="4114800"/>
            <a:ext cx="1722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Colaboraciones con micro-influencers de decoración.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07885" y="2194560"/>
            <a:ext cx="2051914" cy="3291840"/>
          </a:xfrm>
          <a:prstGeom prst="roundRect">
            <a:avLst>
              <a:gd name="adj" fmla="val 4011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13802" y="2468880"/>
            <a:ext cx="640080" cy="64008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1380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45045" y="3337560"/>
            <a:ext cx="1777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marketing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2477" y="4114800"/>
            <a:ext cx="1722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Boletín con tips de cuidado y recordatorios de renovación.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60966" y="2194560"/>
            <a:ext cx="2051914" cy="3291840"/>
          </a:xfrm>
          <a:prstGeom prst="roundRect">
            <a:avLst>
              <a:gd name="adj" fmla="val 4011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66883" y="2468880"/>
            <a:ext cx="640080" cy="640080"/>
          </a:xfrm>
          <a:prstGeom prst="ellipse">
            <a:avLst/>
          </a:prstGeom>
          <a:solidFill>
            <a:srgbClr val="5FA3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66883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698126" y="3337560"/>
            <a:ext cx="1777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Referidos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25558" y="4114800"/>
            <a:ext cx="1722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en la próxima caja por cliente referido.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PASARELAS DE COBRO SEGURAS Y PLAN DE ENVÍOS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 y Logística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2103120"/>
            <a:ext cx="640080" cy="64008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316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Pasarelas de pago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Tarjeta, transferencia y pago contra entrega cercana.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0540" y="2103120"/>
            <a:ext cx="640080" cy="64008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05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 recurrente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automática vía tarjeta guardada.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09460" y="2103120"/>
            <a:ext cx="640080" cy="64008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094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Última milla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propia (24–48h) + aliados de mensajería local.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98380" y="2103120"/>
            <a:ext cx="640080" cy="64008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983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Empaque especializado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para transporte seguro de plantas vivas.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6F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QUIÉN COMPITE Y CÓMO SE DIFERENCIA URBANJUNGLE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Competidores Clave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47672"/>
            <a:ext cx="411480" cy="411480"/>
          </a:xfrm>
          <a:prstGeom prst="ellipse">
            <a:avLst/>
          </a:prstGeom>
          <a:solidFill>
            <a:srgbClr val="8E3B5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Vendedores informales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sociales, sin marca ni garantía post-venta.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1947672"/>
            <a:ext cx="411480" cy="41148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Viveros tradicionales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606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digital básica, catálogo sin compra en línea.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5FAF7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1947672"/>
            <a:ext cx="411480" cy="411480"/>
          </a:xfrm>
          <a:prstGeom prst="ellipse">
            <a:avLst/>
          </a:prstGeom>
          <a:solidFill>
            <a:srgbClr val="3B86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3336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51976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Floristerías con delivery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03336" y="2606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Enfocadas en flores de ocasión, no cuidado continuo.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069080"/>
            <a:ext cx="10332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F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de UrbanJungle: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recurrente, contenido educativo de cuidado, logística confiable para productos vivos y experiencia de marca consistente entre canal físico y digital.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1F6F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las ideas principales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65760" cy="36576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830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convierte a Vivero El Jardín Urbano en un negocio híbrido, sin perder su identidad de marca.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2532888"/>
            <a:ext cx="365760" cy="36576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4144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suscripción mensual genera ingresos recurrentes y reduce la estacionalidad.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191256"/>
            <a:ext cx="365760" cy="36576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09981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lanzamiento de 6 meses asigna responsables claros por fase, desde el diagnóstico hasta el monitoreo post-lanzamiento.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3849624"/>
            <a:ext cx="365760" cy="36576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5818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 frente a la competencia informal es la confianza, la logística especializada y el contenido educativo.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484632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0C2018"/>
          </a:solidFill>
          <a:ln/>
          <a:effectLst>
            <a:outerShdw sx="100000" sy="100000" kx="0" ky="0" algn="bl" rotWithShape="0" blurRad="76200" dist="25400" dir="5400000">
              <a:srgbClr val="1B2B22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280160" y="48463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 3 meses: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clientes registrados  ·  40 suscriptores activos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  ·  Fase 1 SOG1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UrbanJungle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2026-09-18T03:46:30Z</dcterms:created>
  <dcterms:modified xsi:type="dcterms:W3CDTF">2026-09-18T03:46:30Z</dcterms:modified>
</cp:coreProperties>
</file>