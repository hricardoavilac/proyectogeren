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1F6F5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3840480" cy="3840480"/>
          </a:xfrm>
          <a:prstGeom prst="ellipse">
            <a:avLst/>
          </a:prstGeom>
          <a:solidFill>
            <a:srgbClr val="5FA37A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ORGANIZACIONALES Y GERENCIALES 1  ·  PROYECTO FASE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UrbanJungle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7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estratégica de transformación digital: de Vivero El Jardín Urbano a una plataforma de e-commerce de plantas de interior, macetas y suscripción mensual de cuidado vegetal.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3657600" cy="530352"/>
          </a:xfrm>
          <a:prstGeom prst="roundRect">
            <a:avLst>
              <a:gd name="adj" fmla="val 50000"/>
            </a:avLst>
          </a:prstGeom>
          <a:solidFill>
            <a:srgbClr val="C97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89204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metropolitana de Guatemala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669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89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Hernán Ricardo Ávila Castillo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327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9516085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443984" y="5989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Gómez Lavarreda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443984" y="6327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201602929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065008" y="5989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Alejandro Tahuite Soria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6327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202202854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LA PROPUESTA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 del Proyecto y Alcance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plataforma de e-commerce que impulsa la transformación digital de Vivero El Jardín Urbano, negocio familiar físico con 12 años de trayectoria en Guatemala.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del proyecto: REGIONAL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118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venta digital en toda el área metropolitana de Guatemala, con base de operaciones física en la Ciudad de Guatemala.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554480"/>
            <a:ext cx="4572000" cy="4663440"/>
          </a:xfrm>
          <a:prstGeom prst="roundRect">
            <a:avLst>
              <a:gd name="adj" fmla="val 1800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06640" y="1828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ENTREGA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0" y="2331720"/>
            <a:ext cx="146304" cy="146304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99248" y="22037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de Guatemala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06640" y="2953512"/>
            <a:ext cx="146304" cy="146304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99248" y="28254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Mixco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406640" y="3575304"/>
            <a:ext cx="146304" cy="146304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99248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 Nueva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4197096"/>
            <a:ext cx="146304" cy="146304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99248" y="4069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Catarina Pinula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406640" y="4818888"/>
            <a:ext cx="146304" cy="146304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99248" y="4690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Miguel Petapa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06640" y="5440680"/>
            <a:ext cx="146304" cy="146304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99248" y="53126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Fraijanes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OPERA Y A QUÉ SECTOR PERTENECE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Ubicación y Sector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057400"/>
            <a:ext cx="640080" cy="64008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física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Vivero El Jardín Urbano — zona 15, Ciudad de Guatemala. Sector de alta densidad poblacional, nivel socioeconómico medio y medio-alto.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61688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2057400"/>
            <a:ext cx="640080" cy="64008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1728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económico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36008" y="338328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al detalle (retail) de plantas de interior, macetas e insumos de jardinería, en transición hacia e-commerce especializado.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74736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94776" y="2057400"/>
            <a:ext cx="640080" cy="64008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94776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449056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digital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449056" y="338328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en toda el área metropolitana mediante flota propia y aliados de mensajería; fase 2 evalúa Antigua Guatemala.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SE BUSCA RESOLVER Y POR QUÉ ES URGENTE?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Breve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20824"/>
            <a:ext cx="640080" cy="64008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208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181965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78308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100% presencial, horario fijo, sin canal transaccional digital; pedidos manuales por WhatsApp sin trazabilidad.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172968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502152"/>
            <a:ext cx="640080" cy="64008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502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300984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 urgente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3264408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demanda de plantas de interior crece de forma sostenida y migra a canales digitales hoy dominados por vendedores informales sin garantía ni logística confiable.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654296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983480"/>
            <a:ext cx="640080" cy="64008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478231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4745736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Captar esa demanda desatendida y generar ingresos recurrentes mediante un modelo de suscripción mensual, ampliando el alcance sin abrir nuevos locales.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 DE VENTAJAS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Transformación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EAF3EE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6459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i="1" dirty="0">
                <a:solidFill>
                  <a:srgbClr val="1F6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Diseñar e implementar UrbanJungle como el canal híbrido de Vivero El Jardín Urbano: e-commerce de plantas, macetas y suscripción mensual de cuidado vegetal.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594360" cy="59436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Omnicanalidad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física + digital sin invertir en nuevos locales.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0520" y="3063240"/>
            <a:ext cx="594360" cy="59436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6052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Ingresos recurrentes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42062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que reduce la estacionalidad.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3063240"/>
            <a:ext cx="594360" cy="59436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Mayor alcance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2062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toda el área metropolitana desde un solo centro logístico.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738360" y="3063240"/>
            <a:ext cx="594360" cy="59436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3836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91540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del cliente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42062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Personalización, fidelización y decisiones basadas en datos.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F6F50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transición es vital?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200" i="1" dirty="0">
                <a:solidFill>
                  <a:srgbClr val="E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“Sin digitalizarse, el negocio queda expuesto a perder cuota de mercado frente a vendedores informales que ya atienden la demanda en redes sociales — pero sin la calidad, trazabilidad ni respaldo de marca que Vivero El Jardín Urbano sí puede ofrecer.”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4114800"/>
            <a:ext cx="109728" cy="109728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396849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actual limita las ventas a un único punto físico y a un horario comercial fijo.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4681728"/>
            <a:ext cx="109728" cy="109728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88720" y="453542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demanda de plantas de interior se desplaza cada vez más hacia canales digitales.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5248656"/>
            <a:ext cx="109728" cy="109728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88720" y="510235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suscripción introduce ingresos recurrentes y predecibles.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 ES LA ESTRATEGIA FÍSICA ACTUAL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Actual del Negocio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2000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Vivero El Jardín Urbano opera bajo una dirección local y reactiva, centrada en la venta presencial y dependiente del tráfico físico hacia el local.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3200400"/>
            <a:ext cx="502920" cy="50292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canal digital transaccional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Facebook informativo; pedidos manuales por WhatsApp.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34840" y="3200400"/>
            <a:ext cx="502920" cy="50292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48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840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Ventaja: conocimiento y confianza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3434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años de relación con clientela de barrio.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0" y="3200400"/>
            <a:ext cx="502920" cy="50292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3840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Crecimiento limitado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43434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Acotado a la capacidad física del local y su zona de influencia.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ACCIONES CONCRETAS PARA INICIAR EL CAMBIO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Actividades Clave y Responsables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005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8288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y diseño de la propuesta digital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313432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FODA, Porter y VUCA; definición de canales, marketing y logística.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366760" y="2112264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F6F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211226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Proyecto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172968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3172968"/>
            <a:ext cx="1005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6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310128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y desarrollo de la plataforma e-commerce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379476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UX/UI, catálogo, carrito, checkout y módulo de suscripciones.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66760" y="3593592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3B86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35935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Técnico / E-commerce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85800" y="4654296"/>
            <a:ext cx="1005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7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79145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Configuración de pagos, logística y marketing de lanzamiento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0" y="527608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Pasarelas de pago, última milla y estrategia digital de apertura.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66760" y="507492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C97B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6760" y="5074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de Logística y Marketing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FORTALEZAS, OPORTUNIDADES, DEBILIDADES Y AMENAZAS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FODA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EAF3EE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11096"/>
            <a:ext cx="457200" cy="45720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9110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Fortalezas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5603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y conocimiento técnico (12 años)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de confianza con clientela existente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la cadena de suministro (vivero propio)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9164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EAF6F6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911096"/>
            <a:ext cx="457200" cy="45720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19110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6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Oportunidades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5603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 la tendencia "urban jungle"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desarrollo de e-commerce especializado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poco explotada en Guatemala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FBEEE0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334256"/>
            <a:ext cx="457200" cy="45720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33425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Debilidades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834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Nula presencia digital transaccional previa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sin experiencia en e-commerce/logística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 un único punto físico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411480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F5E7EF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28232" y="4334256"/>
            <a:ext cx="457200" cy="45720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28232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433425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3B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Amenazas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49834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 informal de bajo costo en redes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del producto a daños en transporte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Posible entrada de cadenas con logística propia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COMPETITIVIDAD DEL SECTOR TECNOLÓGICO Y LOCAL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Fuerzas de Porter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029968" cy="4114800"/>
          </a:xfrm>
          <a:prstGeom prst="roundRect">
            <a:avLst>
              <a:gd name="adj" fmla="val 4054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0704" y="196596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C97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0704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Media-alta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606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Rivalidad entre competidores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474720"/>
            <a:ext cx="17007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vendedores informales, baja diferenciación real.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07208" y="1737360"/>
            <a:ext cx="2029968" cy="4114800"/>
          </a:xfrm>
          <a:prstGeom prst="roundRect">
            <a:avLst>
              <a:gd name="adj" fmla="val 4054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19272" y="196596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3B86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19272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606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Poder de proveedores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474720"/>
            <a:ext cx="17007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proveedores de plantas e insumos disponibles.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65776" y="1737360"/>
            <a:ext cx="2029968" cy="4114800"/>
          </a:xfrm>
          <a:prstGeom prst="roundRect">
            <a:avLst>
              <a:gd name="adj" fmla="val 4054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77840" y="196596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8E3B5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778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2606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Poder de clientes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474720"/>
            <a:ext cx="17007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costo de cambio; sensibilidad a precio y confianza.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24344" y="1737360"/>
            <a:ext cx="2029968" cy="4114800"/>
          </a:xfrm>
          <a:prstGeom prst="roundRect">
            <a:avLst>
              <a:gd name="adj" fmla="val 4054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836408" y="196596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1F6F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36408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488936" y="2606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Nuevos entrantes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88936" y="3474720"/>
            <a:ext cx="17007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vender informal; difícil replicar marca + logística.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582912" y="1737360"/>
            <a:ext cx="2029968" cy="4114800"/>
          </a:xfrm>
          <a:prstGeom prst="roundRect">
            <a:avLst>
              <a:gd name="adj" fmla="val 4054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094976" y="196596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5FA37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094976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747504" y="2606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Productos sustitutos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47504" y="3474720"/>
            <a:ext cx="17007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artificiales y decoración de tiendas de hogar.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 PROPUESTA SE ADAPTA AL ENTORNO ACTUAL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VUCA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9659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Volatilidad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en algoritmos de redes sociales.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Diversificar canales: SEO, email, referidos.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69164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1965960"/>
            <a:ext cx="548640" cy="54864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19659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Incertidumbre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651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B8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en línea de productos vivos aún en desarrollo.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200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piloto (soft launch) antes de escalar.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4389120"/>
            <a:ext cx="548640" cy="54864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Complejidad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0749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de última milla para productos frágiles.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6235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 especializado y flota propia controlada.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411480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389120"/>
            <a:ext cx="548640" cy="54864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Ambigüedad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50749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E3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históricos de precio de suscripción local.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56235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A/B de precio durante el piloto.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PRINCIPAL, REDES SOCIALES Y MARKETPLACES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Canales de Venta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4114800"/>
          </a:xfrm>
          <a:prstGeom prst="roundRect">
            <a:avLst>
              <a:gd name="adj" fmla="val 230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0" y="2148840"/>
            <a:ext cx="731520" cy="7315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11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54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Sitio web propio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033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urbanjungle.gt — catálogo, carrito, checkout y gestión de suscripciones.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737360"/>
            <a:ext cx="3566160" cy="4114800"/>
          </a:xfrm>
          <a:prstGeom prst="roundRect">
            <a:avLst>
              <a:gd name="adj" fmla="val 230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24728" y="2148840"/>
            <a:ext cx="731520" cy="73152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24728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154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sociales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37033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y TikTok como vitrina, con Instagram Shopping integrado.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74736" y="1737360"/>
            <a:ext cx="3566160" cy="4114800"/>
          </a:xfrm>
          <a:prstGeom prst="roundRect">
            <a:avLst>
              <a:gd name="adj" fmla="val 230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7776" y="2148840"/>
            <a:ext cx="731520" cy="73152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37776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03336" y="3154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Marketplace de nicho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494776" y="37033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complementaria en marketplace de hogar y decoración.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TÁCTICAS PRINCIPALES PARA ATRAER TRÁFICO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Digital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051914" cy="3291840"/>
          </a:xfrm>
          <a:prstGeom prst="roundRect">
            <a:avLst>
              <a:gd name="adj" fmla="val 4011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54557" y="2468880"/>
            <a:ext cx="640080" cy="64008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4557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37560"/>
            <a:ext cx="1777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y SEO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114800"/>
            <a:ext cx="172273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y guías de cuidado para posicionar en buscadores.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01722" y="2194560"/>
            <a:ext cx="2051914" cy="3291840"/>
          </a:xfrm>
          <a:prstGeom prst="roundRect">
            <a:avLst>
              <a:gd name="adj" fmla="val 4011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07638" y="2468880"/>
            <a:ext cx="640080" cy="64008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07638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938882" y="3337560"/>
            <a:ext cx="1777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 en redes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966314" y="4114800"/>
            <a:ext cx="172273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segmentadas en Instagram y TikTok Ads.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54803" y="2194560"/>
            <a:ext cx="2051914" cy="3291840"/>
          </a:xfrm>
          <a:prstGeom prst="roundRect">
            <a:avLst>
              <a:gd name="adj" fmla="val 4011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0720" y="2468880"/>
            <a:ext cx="640080" cy="64008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7607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191963" y="3337560"/>
            <a:ext cx="1777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19395" y="4114800"/>
            <a:ext cx="172273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Colaboraciones con micro-influencers de decoración.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07885" y="2194560"/>
            <a:ext cx="2051914" cy="3291840"/>
          </a:xfrm>
          <a:prstGeom prst="roundRect">
            <a:avLst>
              <a:gd name="adj" fmla="val 4011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13802" y="2468880"/>
            <a:ext cx="640080" cy="64008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13802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445045" y="3337560"/>
            <a:ext cx="1777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marketing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72477" y="4114800"/>
            <a:ext cx="172273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Boletín con tips de cuidado y recordatorios de renovación.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560966" y="2194560"/>
            <a:ext cx="2051914" cy="3291840"/>
          </a:xfrm>
          <a:prstGeom prst="roundRect">
            <a:avLst>
              <a:gd name="adj" fmla="val 4011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266883" y="2468880"/>
            <a:ext cx="640080" cy="640080"/>
          </a:xfrm>
          <a:prstGeom prst="ellipse">
            <a:avLst/>
          </a:prstGeom>
          <a:solidFill>
            <a:srgbClr val="5FA37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266883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698126" y="3337560"/>
            <a:ext cx="17775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Referidos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25558" y="4114800"/>
            <a:ext cx="172273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 en la próxima caja por cliente referido.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PASARELAS DE COBRO SEGURAS Y PLAN DE ENVÍOS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Pagos y Logística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31620" y="2103120"/>
            <a:ext cx="640080" cy="64008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316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Pasarelas de pago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840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Tarjeta, transferencia y pago contra entrega cercana.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73736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0540" y="2103120"/>
            <a:ext cx="640080" cy="64008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205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Cobro recurrente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840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automática vía tarjeta guardada.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09460" y="2103120"/>
            <a:ext cx="640080" cy="64008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094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Última milla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840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propia (24–48h) + aliados de mensajería local.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15400" y="173736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98380" y="2103120"/>
            <a:ext cx="640080" cy="64008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983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Empaque especializado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98280" y="3840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para transporte seguro de plantas vivas.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1F6F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QUIÉN COMPITE Y CÓMO SE DIFERENCIA URBANJUNGLE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Competidores Clave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947672"/>
            <a:ext cx="411480" cy="411480"/>
          </a:xfrm>
          <a:prstGeom prst="ellipse">
            <a:avLst/>
          </a:prstGeom>
          <a:solidFill>
            <a:srgbClr val="8E3B5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4767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Vendedores informales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06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sociales, sin marca ni garantía post-venta.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1688" y="17373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0288" y="1947672"/>
            <a:ext cx="411480" cy="41148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38928" y="194767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Viveros tradicionales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2606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digital básica, catálogo sin compra en línea.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74736" y="17373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5FAF7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03336" y="1947672"/>
            <a:ext cx="411480" cy="411480"/>
          </a:xfrm>
          <a:prstGeom prst="ellipse">
            <a:avLst/>
          </a:prstGeom>
          <a:solidFill>
            <a:srgbClr val="3B86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03336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51976" y="194767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Floristerías con delivery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03336" y="2606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Enfocadas en flores de ocasión, no cuidado continuo.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EAF3EE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14400" y="4069080"/>
            <a:ext cx="10332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F6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Diferenciación de UrbanJungle: 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recurrente, contenido educativo de cuidado, logística confiable para productos vivos y experiencia de marca consistente entre canal físico y digital.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4114800"/>
            <a:ext cx="4572000" cy="4572000"/>
          </a:xfrm>
          <a:prstGeom prst="ellipse">
            <a:avLst/>
          </a:prstGeom>
          <a:solidFill>
            <a:srgbClr val="1F6F5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Síntesis de las ideas principales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365760" cy="36576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78308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convierte a Vivero El Jardín Urbano en un negocio híbrido, sin perder su identidad de marca.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2532888"/>
            <a:ext cx="365760" cy="36576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532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41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suscripción mensual genera ingresos recurrentes y reduce la estacionalidad.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365760" cy="36576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99816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lanzamiento de 6 meses asigna responsables claros por fase, desde el diagnóstico hasta el monitoreo post-lanzamiento.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4400" y="3849624"/>
            <a:ext cx="365760" cy="365760"/>
          </a:xfrm>
          <a:prstGeom prst="ellipse">
            <a:avLst/>
          </a:prstGeom>
          <a:solidFill>
            <a:srgbClr val="C97B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758184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diferenciador frente a la competencia informal es la confianza, la logística especializada y el contenido educativo.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4400" y="4846320"/>
            <a:ext cx="10332720" cy="1371600"/>
          </a:xfrm>
          <a:prstGeom prst="roundRect">
            <a:avLst>
              <a:gd name="adj" fmla="val 6000"/>
            </a:avLst>
          </a:prstGeom>
          <a:solidFill>
            <a:srgbClr val="0C2018"/>
          </a:solidFill>
          <a:ln/>
          <a:effectLst>
            <a:outerShdw sx="100000" sy="100000" kx="0" ky="0" algn="bl" rotWithShape="0" blurRad="76200" dist="25400" dir="5400000">
              <a:srgbClr val="1B2B22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280160" y="484632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a 3 meses: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clientes registrados  ·  40 suscriptores activos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  ·  Fase 1 SOG1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6446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UrbanJungle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2026-09-18T04:12:07Z</dcterms:created>
  <dcterms:modified xsi:type="dcterms:W3CDTF">2026-09-18T04:12:07Z</dcterms:modified>
</cp:coreProperties>
</file>